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1"/>
  </p:notesMasterIdLst>
  <p:handoutMasterIdLst>
    <p:handoutMasterId r:id="rId22"/>
  </p:handoutMasterIdLst>
  <p:sldIdLst>
    <p:sldId id="312" r:id="rId5"/>
    <p:sldId id="304" r:id="rId6"/>
    <p:sldId id="282" r:id="rId7"/>
    <p:sldId id="315" r:id="rId8"/>
    <p:sldId id="318" r:id="rId9"/>
    <p:sldId id="317" r:id="rId10"/>
    <p:sldId id="323" r:id="rId11"/>
    <p:sldId id="324" r:id="rId12"/>
    <p:sldId id="281" r:id="rId13"/>
    <p:sldId id="325" r:id="rId14"/>
    <p:sldId id="326" r:id="rId15"/>
    <p:sldId id="307" r:id="rId16"/>
    <p:sldId id="319" r:id="rId17"/>
    <p:sldId id="321" r:id="rId18"/>
    <p:sldId id="314" r:id="rId19"/>
    <p:sldId id="297" r:id="rId20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7910CE-46EA-4C47-AB77-57B5E9E26376}" v="15" dt="2026-03-15T08:25:29.387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43CA66-E551-4179-9DF3-132B27DD2130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CE7D64D-A569-445B-8BB2-C83EB623D41B}">
      <dgm:prSet phldrT="[Text]" phldr="0"/>
      <dgm:spPr/>
      <dgm:t>
        <a:bodyPr/>
        <a:lstStyle/>
        <a:p>
          <a:r>
            <a:rPr lang="en-US" dirty="0">
              <a:solidFill>
                <a:schemeClr val="tx1">
                  <a:lumMod val="95000"/>
                  <a:lumOff val="5000"/>
                </a:schemeClr>
              </a:solidFill>
            </a:rPr>
            <a:t>User Uploads Evidence</a:t>
          </a:r>
          <a:endParaRPr lang="en-IN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AFD3DB6E-5512-48FE-8EE9-666C65F77D33}" type="parTrans" cxnId="{317298E1-C920-48AB-91F0-96C0212A583E}">
      <dgm:prSet/>
      <dgm:spPr/>
      <dgm:t>
        <a:bodyPr/>
        <a:lstStyle/>
        <a:p>
          <a:endParaRPr lang="en-IN"/>
        </a:p>
      </dgm:t>
    </dgm:pt>
    <dgm:pt modelId="{56D532B0-4519-4B19-8244-BB0411C48FEA}" type="sibTrans" cxnId="{317298E1-C920-48AB-91F0-96C0212A583E}">
      <dgm:prSet/>
      <dgm:spPr/>
      <dgm:t>
        <a:bodyPr/>
        <a:lstStyle/>
        <a:p>
          <a:endParaRPr lang="en-IN"/>
        </a:p>
      </dgm:t>
    </dgm:pt>
    <dgm:pt modelId="{7EF996EE-008D-4F75-B36D-4281E913AA22}">
      <dgm:prSet phldrT="[Text]" phldr="0"/>
      <dgm:spPr/>
      <dgm:t>
        <a:bodyPr/>
        <a:lstStyle/>
        <a:p>
          <a:r>
            <a:rPr lang="en-US" dirty="0">
              <a:solidFill>
                <a:schemeClr val="tx1">
                  <a:lumMod val="95000"/>
                  <a:lumOff val="5000"/>
                </a:schemeClr>
              </a:solidFill>
            </a:rPr>
            <a:t>AI Threat Analysis</a:t>
          </a:r>
          <a:endParaRPr lang="en-IN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D5310917-F325-4127-89DD-FA7595F5CA9E}" type="parTrans" cxnId="{BF35ADFE-CF16-4A32-9E09-B5934196149F}">
      <dgm:prSet/>
      <dgm:spPr/>
      <dgm:t>
        <a:bodyPr/>
        <a:lstStyle/>
        <a:p>
          <a:endParaRPr lang="en-IN"/>
        </a:p>
      </dgm:t>
    </dgm:pt>
    <dgm:pt modelId="{9285507C-547E-4968-A7F3-533498EF2B2A}" type="sibTrans" cxnId="{BF35ADFE-CF16-4A32-9E09-B5934196149F}">
      <dgm:prSet/>
      <dgm:spPr/>
      <dgm:t>
        <a:bodyPr/>
        <a:lstStyle/>
        <a:p>
          <a:endParaRPr lang="en-IN"/>
        </a:p>
      </dgm:t>
    </dgm:pt>
    <dgm:pt modelId="{A6860E13-16F2-4D10-9B92-DFAB6FA94723}">
      <dgm:prSet phldrT="[Text]" phldr="0"/>
      <dgm:spPr/>
      <dgm:t>
        <a:bodyPr/>
        <a:lstStyle/>
        <a:p>
          <a:r>
            <a:rPr lang="en-US" dirty="0">
              <a:solidFill>
                <a:schemeClr val="tx1">
                  <a:lumMod val="95000"/>
                  <a:lumOff val="5000"/>
                </a:schemeClr>
              </a:solidFill>
            </a:rPr>
            <a:t>Identify Cyber Law</a:t>
          </a:r>
          <a:endParaRPr lang="en-IN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AD6EC56A-49AC-421D-BB39-7CE48967C164}" type="parTrans" cxnId="{8E190416-588A-47F2-8B9E-22DBD9DC5515}">
      <dgm:prSet/>
      <dgm:spPr/>
      <dgm:t>
        <a:bodyPr/>
        <a:lstStyle/>
        <a:p>
          <a:endParaRPr lang="en-IN"/>
        </a:p>
      </dgm:t>
    </dgm:pt>
    <dgm:pt modelId="{5CE1A22A-FDE2-4411-93AD-24CB6B547555}" type="sibTrans" cxnId="{8E190416-588A-47F2-8B9E-22DBD9DC5515}">
      <dgm:prSet/>
      <dgm:spPr/>
      <dgm:t>
        <a:bodyPr/>
        <a:lstStyle/>
        <a:p>
          <a:endParaRPr lang="en-IN"/>
        </a:p>
      </dgm:t>
    </dgm:pt>
    <dgm:pt modelId="{1F9BAD03-7621-4377-A48B-8B7A7841E2DD}">
      <dgm:prSet/>
      <dgm:spPr/>
      <dgm:t>
        <a:bodyPr/>
        <a:lstStyle/>
        <a:p>
          <a:r>
            <a:rPr lang="en-US" dirty="0">
              <a:solidFill>
                <a:schemeClr val="tx1">
                  <a:lumMod val="95000"/>
                  <a:lumOff val="5000"/>
                </a:schemeClr>
              </a:solidFill>
            </a:rPr>
            <a:t>Generate Complaint</a:t>
          </a:r>
          <a:endParaRPr lang="en-IN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8AE51FA5-29A1-4346-8A68-AAE592C19AF4}" type="parTrans" cxnId="{F26CC9BD-080A-4767-9745-A4DECA93610C}">
      <dgm:prSet/>
      <dgm:spPr/>
      <dgm:t>
        <a:bodyPr/>
        <a:lstStyle/>
        <a:p>
          <a:endParaRPr lang="en-IN"/>
        </a:p>
      </dgm:t>
    </dgm:pt>
    <dgm:pt modelId="{50D2E488-2E3A-4425-8344-BE7A83C70538}" type="sibTrans" cxnId="{F26CC9BD-080A-4767-9745-A4DECA93610C}">
      <dgm:prSet/>
      <dgm:spPr/>
      <dgm:t>
        <a:bodyPr/>
        <a:lstStyle/>
        <a:p>
          <a:endParaRPr lang="en-IN"/>
        </a:p>
      </dgm:t>
    </dgm:pt>
    <dgm:pt modelId="{6836B586-5225-44A1-B0D0-33C6907855F1}">
      <dgm:prSet/>
      <dgm:spPr/>
      <dgm:t>
        <a:bodyPr/>
        <a:lstStyle/>
        <a:p>
          <a:r>
            <a:rPr lang="en-US" dirty="0">
              <a:solidFill>
                <a:schemeClr val="tx1">
                  <a:lumMod val="95000"/>
                  <a:lumOff val="5000"/>
                </a:schemeClr>
              </a:solidFill>
            </a:rPr>
            <a:t>Provide Guidance</a:t>
          </a:r>
          <a:endParaRPr lang="en-IN" dirty="0">
            <a:solidFill>
              <a:schemeClr val="tx1">
                <a:lumMod val="95000"/>
                <a:lumOff val="5000"/>
              </a:schemeClr>
            </a:solidFill>
          </a:endParaRPr>
        </a:p>
      </dgm:t>
    </dgm:pt>
    <dgm:pt modelId="{2CFE5DDA-796D-4C0C-87B7-D74C3568555B}" type="parTrans" cxnId="{A67F1BEC-9A0A-4F45-9B6A-D745233E646E}">
      <dgm:prSet/>
      <dgm:spPr/>
      <dgm:t>
        <a:bodyPr/>
        <a:lstStyle/>
        <a:p>
          <a:endParaRPr lang="en-IN"/>
        </a:p>
      </dgm:t>
    </dgm:pt>
    <dgm:pt modelId="{5AC85A24-7318-4ECB-889C-ED84DF9EAF2A}" type="sibTrans" cxnId="{A67F1BEC-9A0A-4F45-9B6A-D745233E646E}">
      <dgm:prSet/>
      <dgm:spPr/>
      <dgm:t>
        <a:bodyPr/>
        <a:lstStyle/>
        <a:p>
          <a:endParaRPr lang="en-IN"/>
        </a:p>
      </dgm:t>
    </dgm:pt>
    <dgm:pt modelId="{E86EDE55-FF57-4638-80C1-138E2AABCA1E}" type="pres">
      <dgm:prSet presAssocID="{7A43CA66-E551-4179-9DF3-132B27DD2130}" presName="Name0" presStyleCnt="0">
        <dgm:presLayoutVars>
          <dgm:dir/>
          <dgm:animLvl val="lvl"/>
          <dgm:resizeHandles val="exact"/>
        </dgm:presLayoutVars>
      </dgm:prSet>
      <dgm:spPr/>
    </dgm:pt>
    <dgm:pt modelId="{E032B44C-CF72-4AE8-89AA-DD44A829BDF5}" type="pres">
      <dgm:prSet presAssocID="{4CE7D64D-A569-445B-8BB2-C83EB623D41B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52B33391-230A-4987-B15C-592BD7834051}" type="pres">
      <dgm:prSet presAssocID="{56D532B0-4519-4B19-8244-BB0411C48FEA}" presName="parTxOnlySpace" presStyleCnt="0"/>
      <dgm:spPr/>
    </dgm:pt>
    <dgm:pt modelId="{63181621-2E40-42FF-A87F-E92A9F0FD0D9}" type="pres">
      <dgm:prSet presAssocID="{7EF996EE-008D-4F75-B36D-4281E913AA22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181FB4F2-5E1A-4C85-B4E9-103C60742C72}" type="pres">
      <dgm:prSet presAssocID="{9285507C-547E-4968-A7F3-533498EF2B2A}" presName="parTxOnlySpace" presStyleCnt="0"/>
      <dgm:spPr/>
    </dgm:pt>
    <dgm:pt modelId="{B02ACE47-6C1A-4E9B-B61D-821C13782AC1}" type="pres">
      <dgm:prSet presAssocID="{A6860E13-16F2-4D10-9B92-DFAB6FA94723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D5C71E4D-2599-4E6B-BEB2-32FF4DA36195}" type="pres">
      <dgm:prSet presAssocID="{5CE1A22A-FDE2-4411-93AD-24CB6B547555}" presName="parTxOnlySpace" presStyleCnt="0"/>
      <dgm:spPr/>
    </dgm:pt>
    <dgm:pt modelId="{F88878EB-291B-447B-8A46-2806A64E8ACD}" type="pres">
      <dgm:prSet presAssocID="{1F9BAD03-7621-4377-A48B-8B7A7841E2DD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191FD569-66EF-413F-877A-4AAB0B8626D8}" type="pres">
      <dgm:prSet presAssocID="{50D2E488-2E3A-4425-8344-BE7A83C70538}" presName="parTxOnlySpace" presStyleCnt="0"/>
      <dgm:spPr/>
    </dgm:pt>
    <dgm:pt modelId="{CC0E4811-F7B7-442D-8C90-90F7A4D46BF3}" type="pres">
      <dgm:prSet presAssocID="{6836B586-5225-44A1-B0D0-33C6907855F1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8E190416-588A-47F2-8B9E-22DBD9DC5515}" srcId="{7A43CA66-E551-4179-9DF3-132B27DD2130}" destId="{A6860E13-16F2-4D10-9B92-DFAB6FA94723}" srcOrd="2" destOrd="0" parTransId="{AD6EC56A-49AC-421D-BB39-7CE48967C164}" sibTransId="{5CE1A22A-FDE2-4411-93AD-24CB6B547555}"/>
    <dgm:cxn modelId="{A1491F27-FE9A-45BA-A14A-704FBE214D3D}" type="presOf" srcId="{A6860E13-16F2-4D10-9B92-DFAB6FA94723}" destId="{B02ACE47-6C1A-4E9B-B61D-821C13782AC1}" srcOrd="0" destOrd="0" presId="urn:microsoft.com/office/officeart/2005/8/layout/chevron1"/>
    <dgm:cxn modelId="{BB69D15D-4914-419A-983E-75DDA1E4D9C8}" type="presOf" srcId="{4CE7D64D-A569-445B-8BB2-C83EB623D41B}" destId="{E032B44C-CF72-4AE8-89AA-DD44A829BDF5}" srcOrd="0" destOrd="0" presId="urn:microsoft.com/office/officeart/2005/8/layout/chevron1"/>
    <dgm:cxn modelId="{498BE26C-1631-4F76-8BDE-B077EB139095}" type="presOf" srcId="{7EF996EE-008D-4F75-B36D-4281E913AA22}" destId="{63181621-2E40-42FF-A87F-E92A9F0FD0D9}" srcOrd="0" destOrd="0" presId="urn:microsoft.com/office/officeart/2005/8/layout/chevron1"/>
    <dgm:cxn modelId="{67929F95-340C-42E2-B638-E510F4140162}" type="presOf" srcId="{7A43CA66-E551-4179-9DF3-132B27DD2130}" destId="{E86EDE55-FF57-4638-80C1-138E2AABCA1E}" srcOrd="0" destOrd="0" presId="urn:microsoft.com/office/officeart/2005/8/layout/chevron1"/>
    <dgm:cxn modelId="{C12FADA7-AEF3-484B-BA43-8AFAE0992192}" type="presOf" srcId="{6836B586-5225-44A1-B0D0-33C6907855F1}" destId="{CC0E4811-F7B7-442D-8C90-90F7A4D46BF3}" srcOrd="0" destOrd="0" presId="urn:microsoft.com/office/officeart/2005/8/layout/chevron1"/>
    <dgm:cxn modelId="{F26CC9BD-080A-4767-9745-A4DECA93610C}" srcId="{7A43CA66-E551-4179-9DF3-132B27DD2130}" destId="{1F9BAD03-7621-4377-A48B-8B7A7841E2DD}" srcOrd="3" destOrd="0" parTransId="{8AE51FA5-29A1-4346-8A68-AAE592C19AF4}" sibTransId="{50D2E488-2E3A-4425-8344-BE7A83C70538}"/>
    <dgm:cxn modelId="{79A7BCBF-11DB-4965-BA6D-446EE54051CE}" type="presOf" srcId="{1F9BAD03-7621-4377-A48B-8B7A7841E2DD}" destId="{F88878EB-291B-447B-8A46-2806A64E8ACD}" srcOrd="0" destOrd="0" presId="urn:microsoft.com/office/officeart/2005/8/layout/chevron1"/>
    <dgm:cxn modelId="{317298E1-C920-48AB-91F0-96C0212A583E}" srcId="{7A43CA66-E551-4179-9DF3-132B27DD2130}" destId="{4CE7D64D-A569-445B-8BB2-C83EB623D41B}" srcOrd="0" destOrd="0" parTransId="{AFD3DB6E-5512-48FE-8EE9-666C65F77D33}" sibTransId="{56D532B0-4519-4B19-8244-BB0411C48FEA}"/>
    <dgm:cxn modelId="{A67F1BEC-9A0A-4F45-9B6A-D745233E646E}" srcId="{7A43CA66-E551-4179-9DF3-132B27DD2130}" destId="{6836B586-5225-44A1-B0D0-33C6907855F1}" srcOrd="4" destOrd="0" parTransId="{2CFE5DDA-796D-4C0C-87B7-D74C3568555B}" sibTransId="{5AC85A24-7318-4ECB-889C-ED84DF9EAF2A}"/>
    <dgm:cxn modelId="{BF35ADFE-CF16-4A32-9E09-B5934196149F}" srcId="{7A43CA66-E551-4179-9DF3-132B27DD2130}" destId="{7EF996EE-008D-4F75-B36D-4281E913AA22}" srcOrd="1" destOrd="0" parTransId="{D5310917-F325-4127-89DD-FA7595F5CA9E}" sibTransId="{9285507C-547E-4968-A7F3-533498EF2B2A}"/>
    <dgm:cxn modelId="{9AE34D6D-4EA4-4636-A30A-362469D6B82F}" type="presParOf" srcId="{E86EDE55-FF57-4638-80C1-138E2AABCA1E}" destId="{E032B44C-CF72-4AE8-89AA-DD44A829BDF5}" srcOrd="0" destOrd="0" presId="urn:microsoft.com/office/officeart/2005/8/layout/chevron1"/>
    <dgm:cxn modelId="{E038BAC8-87C5-47AD-B692-269BB9E3E529}" type="presParOf" srcId="{E86EDE55-FF57-4638-80C1-138E2AABCA1E}" destId="{52B33391-230A-4987-B15C-592BD7834051}" srcOrd="1" destOrd="0" presId="urn:microsoft.com/office/officeart/2005/8/layout/chevron1"/>
    <dgm:cxn modelId="{03DBE2D1-B658-46AC-8991-C6BED1F75C72}" type="presParOf" srcId="{E86EDE55-FF57-4638-80C1-138E2AABCA1E}" destId="{63181621-2E40-42FF-A87F-E92A9F0FD0D9}" srcOrd="2" destOrd="0" presId="urn:microsoft.com/office/officeart/2005/8/layout/chevron1"/>
    <dgm:cxn modelId="{801A218C-C2BC-41B8-97E9-04A9AD622AD0}" type="presParOf" srcId="{E86EDE55-FF57-4638-80C1-138E2AABCA1E}" destId="{181FB4F2-5E1A-4C85-B4E9-103C60742C72}" srcOrd="3" destOrd="0" presId="urn:microsoft.com/office/officeart/2005/8/layout/chevron1"/>
    <dgm:cxn modelId="{F10B647B-ED6F-47F5-BB33-01F3CFAF8021}" type="presParOf" srcId="{E86EDE55-FF57-4638-80C1-138E2AABCA1E}" destId="{B02ACE47-6C1A-4E9B-B61D-821C13782AC1}" srcOrd="4" destOrd="0" presId="urn:microsoft.com/office/officeart/2005/8/layout/chevron1"/>
    <dgm:cxn modelId="{DBBAC790-82C2-41D9-9389-50005AEB3557}" type="presParOf" srcId="{E86EDE55-FF57-4638-80C1-138E2AABCA1E}" destId="{D5C71E4D-2599-4E6B-BEB2-32FF4DA36195}" srcOrd="5" destOrd="0" presId="urn:microsoft.com/office/officeart/2005/8/layout/chevron1"/>
    <dgm:cxn modelId="{48C2025C-FD75-4F7B-B913-0DC62C082C68}" type="presParOf" srcId="{E86EDE55-FF57-4638-80C1-138E2AABCA1E}" destId="{F88878EB-291B-447B-8A46-2806A64E8ACD}" srcOrd="6" destOrd="0" presId="urn:microsoft.com/office/officeart/2005/8/layout/chevron1"/>
    <dgm:cxn modelId="{753ECEEB-459C-4302-9F07-F5492737E581}" type="presParOf" srcId="{E86EDE55-FF57-4638-80C1-138E2AABCA1E}" destId="{191FD569-66EF-413F-877A-4AAB0B8626D8}" srcOrd="7" destOrd="0" presId="urn:microsoft.com/office/officeart/2005/8/layout/chevron1"/>
    <dgm:cxn modelId="{7669619A-DBF5-42FD-80E2-63057A715225}" type="presParOf" srcId="{E86EDE55-FF57-4638-80C1-138E2AABCA1E}" destId="{CC0E4811-F7B7-442D-8C90-90F7A4D46BF3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32B44C-CF72-4AE8-89AA-DD44A829BDF5}">
      <dsp:nvSpPr>
        <dsp:cNvPr id="0" name=""/>
        <dsp:cNvSpPr/>
      </dsp:nvSpPr>
      <dsp:spPr>
        <a:xfrm>
          <a:off x="2566" y="946451"/>
          <a:ext cx="2283849" cy="91353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>
                  <a:lumMod val="95000"/>
                  <a:lumOff val="5000"/>
                </a:schemeClr>
              </a:solidFill>
            </a:rPr>
            <a:t>User Uploads Evidence</a:t>
          </a:r>
          <a:endParaRPr lang="en-IN" sz="17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459336" y="946451"/>
        <a:ext cx="1370310" cy="913539"/>
      </dsp:txXfrm>
    </dsp:sp>
    <dsp:sp modelId="{63181621-2E40-42FF-A87F-E92A9F0FD0D9}">
      <dsp:nvSpPr>
        <dsp:cNvPr id="0" name=""/>
        <dsp:cNvSpPr/>
      </dsp:nvSpPr>
      <dsp:spPr>
        <a:xfrm>
          <a:off x="2058030" y="946451"/>
          <a:ext cx="2283849" cy="91353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>
                  <a:lumMod val="95000"/>
                  <a:lumOff val="5000"/>
                </a:schemeClr>
              </a:solidFill>
            </a:rPr>
            <a:t>AI Threat Analysis</a:t>
          </a:r>
          <a:endParaRPr lang="en-IN" sz="17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2514800" y="946451"/>
        <a:ext cx="1370310" cy="913539"/>
      </dsp:txXfrm>
    </dsp:sp>
    <dsp:sp modelId="{B02ACE47-6C1A-4E9B-B61D-821C13782AC1}">
      <dsp:nvSpPr>
        <dsp:cNvPr id="0" name=""/>
        <dsp:cNvSpPr/>
      </dsp:nvSpPr>
      <dsp:spPr>
        <a:xfrm>
          <a:off x="4113494" y="946451"/>
          <a:ext cx="2283849" cy="91353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>
                  <a:lumMod val="95000"/>
                  <a:lumOff val="5000"/>
                </a:schemeClr>
              </a:solidFill>
            </a:rPr>
            <a:t>Identify Cyber Law</a:t>
          </a:r>
          <a:endParaRPr lang="en-IN" sz="17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4570264" y="946451"/>
        <a:ext cx="1370310" cy="913539"/>
      </dsp:txXfrm>
    </dsp:sp>
    <dsp:sp modelId="{F88878EB-291B-447B-8A46-2806A64E8ACD}">
      <dsp:nvSpPr>
        <dsp:cNvPr id="0" name=""/>
        <dsp:cNvSpPr/>
      </dsp:nvSpPr>
      <dsp:spPr>
        <a:xfrm>
          <a:off x="6168958" y="946451"/>
          <a:ext cx="2283849" cy="91353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>
                  <a:lumMod val="95000"/>
                  <a:lumOff val="5000"/>
                </a:schemeClr>
              </a:solidFill>
            </a:rPr>
            <a:t>Generate Complaint</a:t>
          </a:r>
          <a:endParaRPr lang="en-IN" sz="17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6625728" y="946451"/>
        <a:ext cx="1370310" cy="913539"/>
      </dsp:txXfrm>
    </dsp:sp>
    <dsp:sp modelId="{CC0E4811-F7B7-442D-8C90-90F7A4D46BF3}">
      <dsp:nvSpPr>
        <dsp:cNvPr id="0" name=""/>
        <dsp:cNvSpPr/>
      </dsp:nvSpPr>
      <dsp:spPr>
        <a:xfrm>
          <a:off x="8224422" y="946451"/>
          <a:ext cx="2283849" cy="91353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22670" rIns="22670" bIns="226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chemeClr val="tx1">
                  <a:lumMod val="95000"/>
                  <a:lumOff val="5000"/>
                </a:schemeClr>
              </a:solidFill>
            </a:rPr>
            <a:t>Provide Guidance</a:t>
          </a:r>
          <a:endParaRPr lang="en-IN" sz="1700" kern="1200" dirty="0">
            <a:solidFill>
              <a:schemeClr val="tx1">
                <a:lumMod val="95000"/>
                <a:lumOff val="5000"/>
              </a:schemeClr>
            </a:solidFill>
          </a:endParaRPr>
        </a:p>
      </dsp:txBody>
      <dsp:txXfrm>
        <a:off x="8681192" y="946451"/>
        <a:ext cx="1370310" cy="9135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89" y="1513389"/>
            <a:ext cx="6392421" cy="3831221"/>
          </a:xfrm>
        </p:spPr>
        <p:txBody>
          <a:bodyPr anchor="ctr"/>
          <a:lstStyle/>
          <a:p>
            <a:r>
              <a:rPr lang="en-US" dirty="0"/>
              <a:t>LEGAL SHIELD AI – </a:t>
            </a:r>
            <a:r>
              <a:rPr lang="en-US" sz="2000" dirty="0"/>
              <a:t>AI Powered Cyber Crime Detection &amp; Legal Assistant</a:t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IN" dirty="0"/>
              <a:t>Problem Statement</a:t>
            </a:r>
            <a:br>
              <a:rPr lang="en-I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Cyber crimes such as phishing, fraud and blackmail are increasing.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Victims often lack awareness about cyber laws.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IN" dirty="0"/>
              <a:t>Cybercrime Challenges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6" y="2843804"/>
            <a:ext cx="7965460" cy="2356050"/>
          </a:xfrm>
        </p:spPr>
        <p:txBody>
          <a:bodyPr/>
          <a:lstStyle/>
          <a:p>
            <a:r>
              <a:rPr lang="en-US" sz="2400" dirty="0"/>
              <a:t>Lack of awareness</a:t>
            </a:r>
          </a:p>
          <a:p>
            <a:r>
              <a:rPr lang="en-US" sz="2400" dirty="0"/>
              <a:t>Slow complaint process</a:t>
            </a:r>
          </a:p>
          <a:p>
            <a:r>
              <a:rPr lang="en-US" sz="2400" dirty="0"/>
              <a:t>Difficulty identifying scams</a:t>
            </a:r>
          </a:p>
          <a:p>
            <a:r>
              <a:rPr lang="en-US" sz="2400" dirty="0"/>
              <a:t>Limited legal guidance</a:t>
            </a:r>
          </a:p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IN" dirty="0"/>
              <a:t>Proposed Solution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785368"/>
            <a:ext cx="6037006" cy="2035278"/>
          </a:xfrm>
        </p:spPr>
        <p:txBody>
          <a:bodyPr>
            <a:normAutofit/>
          </a:bodyPr>
          <a:lstStyle/>
          <a:p>
            <a:r>
              <a:rPr lang="en-US" sz="2400" dirty="0"/>
              <a:t>LEGAL SHIELD AI detects cyber threats and provides legal guidance with automated complaint generation.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2426" y="1057274"/>
            <a:ext cx="4542503" cy="1012782"/>
          </a:xfrm>
        </p:spPr>
        <p:txBody>
          <a:bodyPr/>
          <a:lstStyle/>
          <a:p>
            <a:r>
              <a:rPr lang="en-IN" dirty="0"/>
              <a:t>Key Features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192594" y="2783769"/>
            <a:ext cx="5869858" cy="200417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AI Scam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AI Legal Advisor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Evidence Analyzer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Automatic Complaint Generator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299690"/>
            <a:ext cx="7631709" cy="1091627"/>
          </a:xfrm>
        </p:spPr>
        <p:txBody>
          <a:bodyPr/>
          <a:lstStyle/>
          <a:p>
            <a:r>
              <a:rPr lang="en-IN" dirty="0"/>
              <a:t>Technology Stack</a:t>
            </a:r>
            <a:endParaRPr lang="en-US" dirty="0"/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012722" y="3181618"/>
            <a:ext cx="6597445" cy="224887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Frontend: HTML CSS JS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Backend: Python Flask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AI: Generative AI + NLP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Database: MongoDB / Firebase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0522E-737A-541C-D56D-C4446671B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A5625-08F9-016F-99ED-675802D3D6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0F150507-31D6-E46E-FC83-C94C288EA668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855536858"/>
              </p:ext>
            </p:extLst>
          </p:nvPr>
        </p:nvGraphicFramePr>
        <p:xfrm>
          <a:off x="914400" y="2316163"/>
          <a:ext cx="10510838" cy="28064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288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2D986-D70D-2E3E-B896-3499E5DE5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92943"/>
            <a:ext cx="10511627" cy="1012785"/>
          </a:xfrm>
        </p:spPr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F52CF4-8D86-023E-F27C-B597C472DF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2ECF1D-CB34-D11F-D02E-FB4C69A52624}"/>
              </a:ext>
            </a:extLst>
          </p:cNvPr>
          <p:cNvSpPr txBox="1"/>
          <p:nvPr/>
        </p:nvSpPr>
        <p:spPr>
          <a:xfrm>
            <a:off x="4837471" y="2305776"/>
            <a:ext cx="1769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Frontend HTML CSS JS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327D2E-9D9C-9A28-8975-FA640DF011D7}"/>
              </a:ext>
            </a:extLst>
          </p:cNvPr>
          <p:cNvSpPr txBox="1"/>
          <p:nvPr/>
        </p:nvSpPr>
        <p:spPr>
          <a:xfrm>
            <a:off x="7747819" y="2312727"/>
            <a:ext cx="1612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Backend API Python Flask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62442F-9E44-375A-47B4-6C78E82167AA}"/>
              </a:ext>
            </a:extLst>
          </p:cNvPr>
          <p:cNvSpPr txBox="1"/>
          <p:nvPr/>
        </p:nvSpPr>
        <p:spPr>
          <a:xfrm>
            <a:off x="2573592" y="2451227"/>
            <a:ext cx="889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087193-1FC9-C904-3B24-F2474054C41A}"/>
              </a:ext>
            </a:extLst>
          </p:cNvPr>
          <p:cNvSpPr txBox="1"/>
          <p:nvPr/>
        </p:nvSpPr>
        <p:spPr>
          <a:xfrm>
            <a:off x="4488425" y="3824433"/>
            <a:ext cx="2467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AI Engine </a:t>
            </a:r>
            <a:br>
              <a:rPr lang="en-US" dirty="0"/>
            </a:br>
            <a:r>
              <a:rPr lang="en-US" dirty="0"/>
              <a:t>Generative AI + NLP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715004-6434-7ACD-16CF-92CBB7FB4255}"/>
              </a:ext>
            </a:extLst>
          </p:cNvPr>
          <p:cNvSpPr txBox="1"/>
          <p:nvPr/>
        </p:nvSpPr>
        <p:spPr>
          <a:xfrm>
            <a:off x="4409767" y="5518726"/>
            <a:ext cx="2330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Output</a:t>
            </a:r>
            <a:br>
              <a:rPr lang="en-US" dirty="0"/>
            </a:br>
            <a:r>
              <a:rPr lang="en-US" dirty="0"/>
              <a:t>Advice + Complaint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A464D9-447B-5491-8B44-D5035B2720B6}"/>
              </a:ext>
            </a:extLst>
          </p:cNvPr>
          <p:cNvSpPr txBox="1"/>
          <p:nvPr/>
        </p:nvSpPr>
        <p:spPr>
          <a:xfrm>
            <a:off x="8259097" y="4480514"/>
            <a:ext cx="1986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Legal Knowledge Base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0B7E1D-2184-40F1-8B28-C11696BBE402}"/>
              </a:ext>
            </a:extLst>
          </p:cNvPr>
          <p:cNvSpPr txBox="1"/>
          <p:nvPr/>
        </p:nvSpPr>
        <p:spPr>
          <a:xfrm>
            <a:off x="1536288" y="4619013"/>
            <a:ext cx="2074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Threat Detection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C2E85F-043F-6953-D505-EB58A72AB844}"/>
              </a:ext>
            </a:extLst>
          </p:cNvPr>
          <p:cNvSpPr/>
          <p:nvPr/>
        </p:nvSpPr>
        <p:spPr>
          <a:xfrm>
            <a:off x="4837471" y="2305776"/>
            <a:ext cx="1543664" cy="72019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54FE30-8D77-97F0-6574-E6BBA6A85774}"/>
              </a:ext>
            </a:extLst>
          </p:cNvPr>
          <p:cNvSpPr/>
          <p:nvPr/>
        </p:nvSpPr>
        <p:spPr>
          <a:xfrm>
            <a:off x="7747819" y="2305776"/>
            <a:ext cx="1543664" cy="72019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89DDFB-FF19-5FAB-7CFF-9830E8762E59}"/>
              </a:ext>
            </a:extLst>
          </p:cNvPr>
          <p:cNvSpPr/>
          <p:nvPr/>
        </p:nvSpPr>
        <p:spPr>
          <a:xfrm>
            <a:off x="2418735" y="2305776"/>
            <a:ext cx="1052052" cy="72019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A8FA77-E3FF-459C-FA3A-F80BB1B78368}"/>
              </a:ext>
            </a:extLst>
          </p:cNvPr>
          <p:cNvSpPr/>
          <p:nvPr/>
        </p:nvSpPr>
        <p:spPr>
          <a:xfrm>
            <a:off x="4557251" y="3824433"/>
            <a:ext cx="2330245" cy="72019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9AF1FA-EA37-F3FF-20FA-E92F4C5B4988}"/>
              </a:ext>
            </a:extLst>
          </p:cNvPr>
          <p:cNvSpPr/>
          <p:nvPr/>
        </p:nvSpPr>
        <p:spPr>
          <a:xfrm>
            <a:off x="4557251" y="5437239"/>
            <a:ext cx="2050026" cy="82590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BF8B4C-5FD1-0AA5-69E2-BA38E66B92D7}"/>
              </a:ext>
            </a:extLst>
          </p:cNvPr>
          <p:cNvSpPr/>
          <p:nvPr/>
        </p:nvSpPr>
        <p:spPr>
          <a:xfrm>
            <a:off x="8259097" y="4470764"/>
            <a:ext cx="1868129" cy="72019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5D8DED-DE9C-3398-2F8C-2A708046FBC3}"/>
              </a:ext>
            </a:extLst>
          </p:cNvPr>
          <p:cNvSpPr/>
          <p:nvPr/>
        </p:nvSpPr>
        <p:spPr>
          <a:xfrm>
            <a:off x="1536288" y="4470764"/>
            <a:ext cx="1787015" cy="72019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A089309-B44D-0C4C-824B-9813C2F2C085}"/>
              </a:ext>
            </a:extLst>
          </p:cNvPr>
          <p:cNvCxnSpPr>
            <a:stCxn id="17" idx="3"/>
            <a:endCxn id="14" idx="1"/>
          </p:cNvCxnSpPr>
          <p:nvPr/>
        </p:nvCxnSpPr>
        <p:spPr>
          <a:xfrm>
            <a:off x="3470787" y="2665872"/>
            <a:ext cx="13666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C5FA68E-7444-9A56-94C0-8BCC9493C457}"/>
              </a:ext>
            </a:extLst>
          </p:cNvPr>
          <p:cNvCxnSpPr>
            <a:endCxn id="16" idx="1"/>
          </p:cNvCxnSpPr>
          <p:nvPr/>
        </p:nvCxnSpPr>
        <p:spPr>
          <a:xfrm>
            <a:off x="6381135" y="2665872"/>
            <a:ext cx="136668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31BB369-9579-7223-AA25-6C01713E1116}"/>
              </a:ext>
            </a:extLst>
          </p:cNvPr>
          <p:cNvCxnSpPr>
            <a:stCxn id="14" idx="2"/>
          </p:cNvCxnSpPr>
          <p:nvPr/>
        </p:nvCxnSpPr>
        <p:spPr>
          <a:xfrm>
            <a:off x="5609303" y="3025968"/>
            <a:ext cx="0" cy="79846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5745A4B-0E3E-89BF-97EB-5E220B1B3D6B}"/>
              </a:ext>
            </a:extLst>
          </p:cNvPr>
          <p:cNvCxnSpPr>
            <a:cxnSpLocks/>
          </p:cNvCxnSpPr>
          <p:nvPr/>
        </p:nvCxnSpPr>
        <p:spPr>
          <a:xfrm flipH="1">
            <a:off x="5624053" y="4544625"/>
            <a:ext cx="1" cy="89261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FC89537-E6C6-36D7-3D98-64BD12DD6AA7}"/>
              </a:ext>
            </a:extLst>
          </p:cNvPr>
          <p:cNvCxnSpPr>
            <a:cxnSpLocks/>
          </p:cNvCxnSpPr>
          <p:nvPr/>
        </p:nvCxnSpPr>
        <p:spPr>
          <a:xfrm>
            <a:off x="6921909" y="4147599"/>
            <a:ext cx="1302774" cy="6560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7C031B0-F87F-B23C-4EFC-5BC5A99F2A5E}"/>
              </a:ext>
            </a:extLst>
          </p:cNvPr>
          <p:cNvCxnSpPr>
            <a:cxnSpLocks/>
          </p:cNvCxnSpPr>
          <p:nvPr/>
        </p:nvCxnSpPr>
        <p:spPr>
          <a:xfrm flipH="1">
            <a:off x="3367546" y="4138883"/>
            <a:ext cx="1165122" cy="6832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893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375" y="2020129"/>
            <a:ext cx="7846142" cy="1408871"/>
          </a:xfrm>
        </p:spPr>
        <p:txBody>
          <a:bodyPr/>
          <a:lstStyle/>
          <a:p>
            <a:r>
              <a:rPr lang="en-IN" dirty="0"/>
              <a:t>User Interface Overview</a:t>
            </a:r>
            <a:br>
              <a:rPr lang="en-IN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0375" y="3724670"/>
            <a:ext cx="6951406" cy="750763"/>
          </a:xfrm>
        </p:spPr>
        <p:txBody>
          <a:bodyPr/>
          <a:lstStyle/>
          <a:p>
            <a:r>
              <a:rPr lang="en-US" dirty="0"/>
              <a:t>Main UI screens of the platform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68129-7F2F-EA7C-3155-4FADFCF4C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16" y="943743"/>
            <a:ext cx="5556169" cy="1012785"/>
          </a:xfrm>
        </p:spPr>
        <p:txBody>
          <a:bodyPr/>
          <a:lstStyle/>
          <a:p>
            <a:r>
              <a:rPr lang="en-IN" dirty="0"/>
              <a:t>Home Dashboard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A50F9-F544-598D-0D78-F53F81BC42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A3F7A6-4191-5F8F-8CE7-A976D7C81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484" y="2534265"/>
            <a:ext cx="3519948" cy="359123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B99DD2-6015-E7D1-3911-862617B57A9F}"/>
              </a:ext>
            </a:extLst>
          </p:cNvPr>
          <p:cNvCxnSpPr>
            <a:cxnSpLocks/>
          </p:cNvCxnSpPr>
          <p:nvPr/>
        </p:nvCxnSpPr>
        <p:spPr>
          <a:xfrm>
            <a:off x="6223819" y="855406"/>
            <a:ext cx="0" cy="56928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8BD4E86-50A2-E133-109E-4DD91C4FFB80}"/>
              </a:ext>
            </a:extLst>
          </p:cNvPr>
          <p:cNvSpPr txBox="1"/>
          <p:nvPr/>
        </p:nvSpPr>
        <p:spPr>
          <a:xfrm>
            <a:off x="6646608" y="1432166"/>
            <a:ext cx="4994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202C8F"/>
                </a:solidFill>
                <a:latin typeface="+mj-lt"/>
              </a:rPr>
              <a:t>SCAM DETECTOR</a:t>
            </a:r>
            <a:endParaRPr lang="en-IN" sz="3600" dirty="0">
              <a:solidFill>
                <a:srgbClr val="202C8F"/>
              </a:solidFill>
              <a:latin typeface="+mj-lt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C05994F-7B0D-CEA8-223A-6B5D51E25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380" y="2581975"/>
            <a:ext cx="333312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319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06FD2-24B2-4B5E-9BAC-FB49F2D48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D7C8-405E-1F4D-E3AE-D181E804F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959" y="884045"/>
            <a:ext cx="5556169" cy="1012785"/>
          </a:xfrm>
        </p:spPr>
        <p:txBody>
          <a:bodyPr/>
          <a:lstStyle/>
          <a:p>
            <a:r>
              <a:rPr lang="en-IN" dirty="0"/>
              <a:t>AI Legal Advisor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8855F-036B-FD80-9536-4A91E7F481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180B0F-29BF-BC77-8B49-4E16745AA3EB}"/>
              </a:ext>
            </a:extLst>
          </p:cNvPr>
          <p:cNvCxnSpPr>
            <a:cxnSpLocks/>
          </p:cNvCxnSpPr>
          <p:nvPr/>
        </p:nvCxnSpPr>
        <p:spPr>
          <a:xfrm>
            <a:off x="6287743" y="835741"/>
            <a:ext cx="0" cy="569287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2059B65-1371-E6CD-0F08-4A0AECE2AB26}"/>
              </a:ext>
            </a:extLst>
          </p:cNvPr>
          <p:cNvSpPr txBox="1"/>
          <p:nvPr/>
        </p:nvSpPr>
        <p:spPr>
          <a:xfrm>
            <a:off x="7093988" y="928688"/>
            <a:ext cx="70300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202C8F"/>
                </a:solidFill>
                <a:latin typeface="+mj-lt"/>
              </a:rPr>
              <a:t>COMPLAINT</a:t>
            </a:r>
          </a:p>
          <a:p>
            <a:r>
              <a:rPr lang="en-IN" sz="3600" dirty="0">
                <a:solidFill>
                  <a:srgbClr val="202C8F"/>
                </a:solidFill>
                <a:latin typeface="+mj-lt"/>
              </a:rPr>
              <a:t>GENERATOR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F7BDA8-AFAE-1CAA-D78D-C8BE6A4AF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873" y="2374444"/>
            <a:ext cx="3037173" cy="3657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7C4A2F-0BB6-C8BA-7A99-B2A783277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987" y="2563761"/>
            <a:ext cx="2812016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229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897" y="520849"/>
            <a:ext cx="7934632" cy="1907719"/>
          </a:xfrm>
        </p:spPr>
        <p:txBody>
          <a:bodyPr/>
          <a:lstStyle/>
          <a:p>
            <a:r>
              <a:rPr lang="en-IN" dirty="0"/>
              <a:t>Innovation &amp; Competitive Advantage</a:t>
            </a:r>
            <a:br>
              <a:rPr lang="en-IN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601EB-764C-1311-736B-9AC9AAB1A3FD}"/>
              </a:ext>
            </a:extLst>
          </p:cNvPr>
          <p:cNvSpPr txBox="1"/>
          <p:nvPr/>
        </p:nvSpPr>
        <p:spPr>
          <a:xfrm>
            <a:off x="1179871" y="2428568"/>
            <a:ext cx="800345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Combines Cybersecurity + Generative AI + Legal Assistance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Automated complaint 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User‑friendly interface for victims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Bridges gap between cybercrime detection and legal awareness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862" y="928688"/>
            <a:ext cx="6020276" cy="980844"/>
          </a:xfrm>
        </p:spPr>
        <p:txBody>
          <a:bodyPr/>
          <a:lstStyle/>
          <a:p>
            <a:r>
              <a:rPr lang="en-IN" dirty="0"/>
              <a:t>Future Scope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68087" y="2552823"/>
            <a:ext cx="6157926" cy="244651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Integration with Cyber Crime Portal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Mobile App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Real‑time scam alerts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Multilingual legal guidance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8702" y="1706204"/>
            <a:ext cx="4447113" cy="999746"/>
          </a:xfrm>
        </p:spPr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81426" y="3281516"/>
            <a:ext cx="5829147" cy="1570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LEGAL SHIELD AI helps citizens detect scams, understand cyber laws and report crimes quickly.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2507225"/>
            <a:ext cx="7043617" cy="904569"/>
          </a:xfrm>
        </p:spPr>
        <p:txBody>
          <a:bodyPr/>
          <a:lstStyle/>
          <a:p>
            <a:r>
              <a:rPr lang="en-IN" dirty="0"/>
              <a:t>Team Name: Shadow</a:t>
            </a:r>
            <a:br>
              <a:rPr lang="en-IN" dirty="0"/>
            </a:br>
            <a:br>
              <a:rPr lang="en-IN" dirty="0"/>
            </a:b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701994" y="3149988"/>
            <a:ext cx="4612045" cy="2233233"/>
          </a:xfrm>
        </p:spPr>
        <p:txBody>
          <a:bodyPr/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Members</a:t>
            </a:r>
          </a:p>
          <a:p>
            <a:endParaRPr lang="en-IN" dirty="0"/>
          </a:p>
          <a:p>
            <a:r>
              <a:rPr lang="en-IN" dirty="0"/>
              <a:t>Rushikesh Jadhao</a:t>
            </a:r>
          </a:p>
          <a:p>
            <a:r>
              <a:rPr lang="en-IN" dirty="0"/>
              <a:t>Piyush Raj</a:t>
            </a:r>
          </a:p>
          <a:p>
            <a:r>
              <a:rPr lang="en-IN" dirty="0"/>
              <a:t>Hrijiscrita Baruah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3059" y="1543664"/>
            <a:ext cx="3795251" cy="785130"/>
          </a:xfrm>
        </p:spPr>
        <p:txBody>
          <a:bodyPr/>
          <a:lstStyle/>
          <a:p>
            <a:r>
              <a:rPr lang="en-IN" dirty="0"/>
              <a:t>Team Roles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4736" y="3079694"/>
            <a:ext cx="5715000" cy="2234642"/>
          </a:xfrm>
        </p:spPr>
        <p:txBody>
          <a:bodyPr/>
          <a:lstStyle/>
          <a:p>
            <a:r>
              <a:rPr lang="en-US" dirty="0"/>
              <a:t>Rushikesh Jadhao – Backend + NLP</a:t>
            </a:r>
          </a:p>
          <a:p>
            <a:r>
              <a:rPr lang="en-US" dirty="0"/>
              <a:t>Piyush Raj – Frontend + Generative AI</a:t>
            </a:r>
          </a:p>
          <a:p>
            <a:r>
              <a:rPr lang="en-US" dirty="0"/>
              <a:t>Hrijiscrita Baruah – Database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{FCD88BD6-B4B1-4614-91FF-F95DD01CA219}TF8a9b5915-b8c7-461e-8cdd-693d48b5e32371f7b7e2_win32-4bf0b9a2ea37</Template>
  <TotalTime>105</TotalTime>
  <Words>273</Words>
  <Application>Microsoft Office PowerPoint</Application>
  <PresentationFormat>Widescreen</PresentationFormat>
  <Paragraphs>76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Calibri</vt:lpstr>
      <vt:lpstr>Sabon Next LT</vt:lpstr>
      <vt:lpstr>Custom</vt:lpstr>
      <vt:lpstr>LEGAL SHIELD AI – AI Powered Cyber Crime Detection &amp; Legal Assistant </vt:lpstr>
      <vt:lpstr>Problem Statement </vt:lpstr>
      <vt:lpstr>Cybercrime Challenges</vt:lpstr>
      <vt:lpstr>Proposed Solution</vt:lpstr>
      <vt:lpstr>Key Features</vt:lpstr>
      <vt:lpstr>Technology Stack</vt:lpstr>
      <vt:lpstr>System Workflow</vt:lpstr>
      <vt:lpstr>System Architecture</vt:lpstr>
      <vt:lpstr>User Interface Overview </vt:lpstr>
      <vt:lpstr>Home Dashboard</vt:lpstr>
      <vt:lpstr>AI Legal Advisor</vt:lpstr>
      <vt:lpstr>Innovation &amp; Competitive Advantage </vt:lpstr>
      <vt:lpstr>Future Scope</vt:lpstr>
      <vt:lpstr>Conclusion</vt:lpstr>
      <vt:lpstr>Team Name: Shadow  </vt:lpstr>
      <vt:lpstr>Team Roles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HRIJISCRITA BARUAH</dc:creator>
  <cp:lastModifiedBy>HRIJISCRITA BARUAH</cp:lastModifiedBy>
  <cp:revision>2</cp:revision>
  <dcterms:created xsi:type="dcterms:W3CDTF">2026-03-15T05:52:48Z</dcterms:created>
  <dcterms:modified xsi:type="dcterms:W3CDTF">2026-03-15T08:38:29Z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